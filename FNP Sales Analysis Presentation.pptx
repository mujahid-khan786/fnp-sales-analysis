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4"/>
    <p:sldId id="260" r:id="rId5"/>
    <p:sldId id="258" r:id="rId6"/>
    <p:sldId id="265" r:id="rId7"/>
    <p:sldId id="261" r:id="rId8"/>
    <p:sldId id="266" r:id="rId9"/>
    <p:sldId id="262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780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FNP%20Data%20Analysis%20Excel%20Projec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FNP%20Data%20Analysis%20Excel%20Projec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FNP%20Data%20Analysis%20Excel%20Projec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FNP%20Data%20Analysis%20Excel%20Projec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FNP%20Data%20Analysis%20Excel%20Projec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[FNP Data Analysis Excel Project.xlsx]Pivot Tables!PivotTable6</c:name>
    <c:fmtId val="1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u="none" strike="noStrike" cap="none" baseline="0" dirty="0">
                <a:solidFill>
                  <a:schemeClr val="tx1"/>
                </a:solidFill>
                <a:effectLst/>
              </a:rPr>
              <a:t>REVENUE BY MONTH</a:t>
            </a:r>
            <a:endParaRPr lang="en-US" sz="1800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81553958880139987"/>
          <c:y val="3.60655768741084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</c:pivotFmt>
      <c:pivotFmt>
        <c:idx val="1"/>
      </c:pivotFmt>
      <c:pivotFmt>
        <c:idx val="2"/>
      </c:pivotFmt>
      <c:pivotFmt>
        <c:idx val="3"/>
        <c:spPr>
          <a:gradFill rotWithShape="1">
            <a:gsLst>
              <a:gs pos="0">
                <a:schemeClr val="accent1">
                  <a:tint val="50000"/>
                  <a:satMod val="30000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  <a:lin ang="16200000" scaled="1"/>
          </a:gradFill>
          <a:ln w="22225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4"/>
          <c:spPr>
            <a:solidFill>
              <a:schemeClr val="accent1"/>
            </a:solidFill>
            <a:ln w="9525" cap="flat" cmpd="sng" algn="ctr">
              <a:solidFill>
                <a:schemeClr val="accent1"/>
              </a:solidFill>
              <a:round/>
            </a:ln>
            <a:effectLst/>
          </c:spPr>
        </c:marker>
      </c:pivotFmt>
      <c:pivotFmt>
        <c:idx val="4"/>
        <c:spPr>
          <a:gradFill rotWithShape="1">
            <a:gsLst>
              <a:gs pos="0">
                <a:schemeClr val="accent1">
                  <a:tint val="50000"/>
                  <a:satMod val="30000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  <a:lin ang="16200000" scaled="1"/>
          </a:gradFill>
          <a:ln w="22225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4"/>
          <c:spPr>
            <a:solidFill>
              <a:schemeClr val="accent1"/>
            </a:solidFill>
            <a:ln w="9525" cap="flat" cmpd="sng" algn="ctr">
              <a:solidFill>
                <a:schemeClr val="accent1"/>
              </a:solidFill>
              <a:round/>
            </a:ln>
            <a:effectLst/>
          </c:spPr>
        </c:marker>
      </c:pivotFmt>
      <c:pivotFmt>
        <c:idx val="5"/>
        <c:spPr>
          <a:gradFill rotWithShape="1">
            <a:gsLst>
              <a:gs pos="0">
                <a:schemeClr val="accent1">
                  <a:tint val="50000"/>
                  <a:satMod val="30000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  <a:lin ang="16200000" scaled="1"/>
          </a:gradFill>
          <a:ln w="22225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4"/>
          <c:spPr>
            <a:solidFill>
              <a:schemeClr val="accent1"/>
            </a:solidFill>
            <a:ln w="9525" cap="flat" cmpd="sng" algn="ctr">
              <a:solidFill>
                <a:schemeClr val="accent1"/>
              </a:solidFill>
              <a:round/>
            </a:ln>
            <a:effectLst/>
          </c:spPr>
        </c:marker>
      </c:pivotFmt>
      <c:pivotFmt>
        <c:idx val="6"/>
        <c:spPr>
          <a:gradFill rotWithShape="1">
            <a:gsLst>
              <a:gs pos="0">
                <a:schemeClr val="accent1">
                  <a:tint val="50000"/>
                  <a:satMod val="30000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  <a:lin ang="16200000" scaled="1"/>
          </a:gradFill>
          <a:ln w="22225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4"/>
          <c:spPr>
            <a:solidFill>
              <a:schemeClr val="accent1"/>
            </a:solidFill>
            <a:ln w="9525" cap="flat" cmpd="sng" algn="ctr">
              <a:solidFill>
                <a:schemeClr val="accent1"/>
              </a:solidFill>
              <a:round/>
            </a:ln>
            <a:effectLst/>
          </c:spPr>
        </c:marker>
      </c:pivotFmt>
    </c:pivotFmts>
    <c:plotArea>
      <c:layout>
        <c:manualLayout>
          <c:layoutTarget val="inner"/>
          <c:xMode val="edge"/>
          <c:yMode val="edge"/>
          <c:x val="0.12319914698162727"/>
          <c:y val="0.14386208331888028"/>
          <c:w val="0.87180905511811024"/>
          <c:h val="0.63943415855033425"/>
        </c:manualLayout>
      </c:layout>
      <c:lineChart>
        <c:grouping val="standard"/>
        <c:varyColors val="0"/>
        <c:ser>
          <c:idx val="0"/>
          <c:order val="0"/>
          <c:tx>
            <c:strRef>
              <c:f>'Pivot Tables'!$E$10</c:f>
              <c:strCache>
                <c:ptCount val="1"/>
                <c:pt idx="0">
                  <c:v>Total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4"/>
            <c:spPr>
              <a:solidFill>
                <a:schemeClr val="accent1"/>
              </a:solidFill>
              <a:ln w="9525" cap="flat" cmpd="sng" algn="ctr">
                <a:solidFill>
                  <a:schemeClr val="accent1"/>
                </a:solidFill>
                <a:round/>
              </a:ln>
              <a:effectLst/>
            </c:spPr>
          </c:marker>
          <c:cat>
            <c:strRef>
              <c:f>'Pivot Tables'!$D$11:$D$23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'Pivot Tables'!$E$11:$E$23</c:f>
              <c:numCache>
                <c:formatCode>"₹"#,##0;#,##0\ \-"₹";"₹"#,##0</c:formatCode>
                <c:ptCount val="12"/>
                <c:pt idx="0">
                  <c:v>95468</c:v>
                </c:pt>
                <c:pt idx="1">
                  <c:v>704509</c:v>
                </c:pt>
                <c:pt idx="2">
                  <c:v>511823</c:v>
                </c:pt>
                <c:pt idx="3">
                  <c:v>140393</c:v>
                </c:pt>
                <c:pt idx="4">
                  <c:v>150346</c:v>
                </c:pt>
                <c:pt idx="5">
                  <c:v>157913</c:v>
                </c:pt>
                <c:pt idx="6">
                  <c:v>135826</c:v>
                </c:pt>
                <c:pt idx="7">
                  <c:v>737389</c:v>
                </c:pt>
                <c:pt idx="8">
                  <c:v>136938</c:v>
                </c:pt>
                <c:pt idx="9">
                  <c:v>151619</c:v>
                </c:pt>
                <c:pt idx="10">
                  <c:v>449169</c:v>
                </c:pt>
                <c:pt idx="11">
                  <c:v>149591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C9A-4AAB-BB41-DB62266631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marker val="1"/>
        <c:smooth val="0"/>
        <c:axId val="2144490111"/>
        <c:axId val="2144492607"/>
      </c:lineChart>
      <c:catAx>
        <c:axId val="2144490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spc="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4492607"/>
        <c:crosses val="autoZero"/>
        <c:auto val="1"/>
        <c:lblAlgn val="ctr"/>
        <c:lblOffset val="100"/>
        <c:noMultiLvlLbl val="0"/>
      </c:catAx>
      <c:valAx>
        <c:axId val="2144492607"/>
        <c:scaling>
          <c:orientation val="minMax"/>
        </c:scaling>
        <c:delete val="0"/>
        <c:axPos val="l"/>
        <c:numFmt formatCode="&quot;₹&quot;#,##0;#,##0\ \-&quot;₹&quot;;&quot;₹&quot;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spc="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4490111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plotVisOnly val="1"/>
    <c:dispBlanksAs val="gap"/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[FNP Data Analysis Excel Project.xlsx]Pivot Tables!PivotTable11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>
                <a:solidFill>
                  <a:schemeClr val="tx1"/>
                </a:solidFill>
              </a:rPr>
              <a:t>Revenue by Occasion</a:t>
            </a:r>
          </a:p>
        </c:rich>
      </c:tx>
      <c:layout>
        <c:manualLayout>
          <c:xMode val="edge"/>
          <c:yMode val="edge"/>
          <c:x val="0.76033136482939645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</c:pivotFmt>
      <c:pivotFmt>
        <c:idx val="1"/>
      </c:pivotFmt>
      <c:pivotFmt>
        <c:idx val="2"/>
      </c:pivotFmt>
      <c:pivotFmt>
        <c:idx val="3"/>
      </c:pivotFmt>
      <c:pivotFmt>
        <c:idx val="4"/>
      </c:pivotFmt>
      <c:pivotFmt>
        <c:idx val="5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marker>
          <c:symbol val="none"/>
        </c:marker>
      </c:pivotFmt>
      <c:pivotFmt>
        <c:idx val="6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marker>
          <c:symbol val="none"/>
        </c:marker>
        <c:dLbl>
          <c:idx val="0"/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-4.0396588286354014E-3"/>
              <c:y val="-2.2141496841245046E-4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-3.5261101532306285E-3"/>
              <c:y val="-2.6003582358973664E-3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0"/>
              <c:y val="-3.9833566931758973E-3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0"/>
              <c:y val="2.987411882969488E-3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0"/>
              <c:y val="6.7493536077329599E-3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3.2692071065869633E-3"/>
              <c:y val="2.3789432674849163E-3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0"/>
              <c:y val="2.9874118829694638E-3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marker>
          <c:symbol val="none"/>
        </c:marker>
        <c:dLbl>
          <c:idx val="0"/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-4.0396588286354014E-3"/>
              <c:y val="-2.2141496841245046E-4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-3.5261101532306285E-3"/>
              <c:y val="-2.6003582358973664E-3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0"/>
              <c:y val="-3.9833566931758973E-3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0"/>
              <c:y val="2.987411882969488E-3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0"/>
              <c:y val="6.7493536077329599E-3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3.2692071065869633E-3"/>
              <c:y val="2.3789432674849163E-3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0"/>
              <c:y val="2.9874118829694638E-3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marker>
          <c:symbol val="none"/>
        </c:marker>
        <c:dLbl>
          <c:idx val="0"/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-4.0396588286354014E-3"/>
              <c:y val="-2.2141496841245046E-4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-3.5261101532306285E-3"/>
              <c:y val="-2.6003582358973664E-3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0"/>
              <c:y val="-3.9833566931758973E-3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0"/>
              <c:y val="2.987411882969488E-3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0"/>
              <c:y val="6.7493536077329599E-3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3.2692071065869633E-3"/>
              <c:y val="2.3789432674849163E-3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0"/>
              <c:y val="2.9874118829694638E-3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0"/>
      <c:rotY val="0"/>
      <c:depthPercent val="100"/>
      <c:rAngAx val="0"/>
    </c:view3D>
    <c:floor>
      <c:thickness val="0"/>
      <c:spPr>
        <a:solidFill>
          <a:schemeClr val="lt1"/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0737828083989501"/>
          <c:y val="2.9252332414433715E-2"/>
          <c:w val="0.89262160979877514"/>
          <c:h val="0.83724201796866649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'Pivot Tables'!$H$14</c:f>
              <c:strCache>
                <c:ptCount val="1"/>
                <c:pt idx="0">
                  <c:v>Total</c:v>
                </c:pt>
              </c:strCache>
            </c:strRef>
          </c:tx>
          <c:spPr>
            <a:pattFill prst="dkUpDiag">
              <a:fgClr>
                <a:srgbClr val="0070C0"/>
              </a:fgClr>
              <a:bgClr>
                <a:schemeClr val="bg1"/>
              </a:bgClr>
            </a:pattFill>
            <a:ln>
              <a:solidFill>
                <a:schemeClr val="accent1"/>
              </a:solidFill>
            </a:ln>
            <a:effectLst/>
            <a:sp3d>
              <a:contourClr>
                <a:schemeClr val="accent1"/>
              </a:contourClr>
            </a:sp3d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5BF4-4719-9861-E4C00CC6AD1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BF4-4719-9861-E4C00CC6AD1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5BF4-4719-9861-E4C00CC6AD15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BF4-4719-9861-E4C00CC6AD15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5BF4-4719-9861-E4C00CC6AD15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5BF4-4719-9861-E4C00CC6AD15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5BF4-4719-9861-E4C00CC6AD15}"/>
              </c:ext>
            </c:extLst>
          </c:dPt>
          <c:dLbls>
            <c:dLbl>
              <c:idx val="0"/>
              <c:layout>
                <c:manualLayout>
                  <c:x val="-4.0396588286354014E-3"/>
                  <c:y val="-2.2141496841245046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0-5BF4-4719-9861-E4C00CC6AD15}"/>
                </c:ext>
              </c:extLst>
            </c:dLbl>
            <c:dLbl>
              <c:idx val="1"/>
              <c:layout>
                <c:manualLayout>
                  <c:x val="-3.5261101532306285E-3"/>
                  <c:y val="-2.600358235897366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5BF4-4719-9861-E4C00CC6AD15}"/>
                </c:ext>
              </c:extLst>
            </c:dLbl>
            <c:dLbl>
              <c:idx val="2"/>
              <c:layout>
                <c:manualLayout>
                  <c:x val="0"/>
                  <c:y val="-3.983356693175897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5BF4-4719-9861-E4C00CC6AD15}"/>
                </c:ext>
              </c:extLst>
            </c:dLbl>
            <c:dLbl>
              <c:idx val="3"/>
              <c:layout>
                <c:manualLayout>
                  <c:x val="0"/>
                  <c:y val="2.9874118829694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5BF4-4719-9861-E4C00CC6AD15}"/>
                </c:ext>
              </c:extLst>
            </c:dLbl>
            <c:dLbl>
              <c:idx val="4"/>
              <c:layout>
                <c:manualLayout>
                  <c:x val="0"/>
                  <c:y val="-1.422010330957183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5BF4-4719-9861-E4C00CC6AD15}"/>
                </c:ext>
              </c:extLst>
            </c:dLbl>
            <c:dLbl>
              <c:idx val="5"/>
              <c:layout>
                <c:manualLayout>
                  <c:x val="3.2692071065869633E-3"/>
                  <c:y val="2.378943267484916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5BF4-4719-9861-E4C00CC6AD15}"/>
                </c:ext>
              </c:extLst>
            </c:dLbl>
            <c:dLbl>
              <c:idx val="6"/>
              <c:layout>
                <c:manualLayout>
                  <c:x val="0"/>
                  <c:y val="2.987411882969463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6-5BF4-4719-9861-E4C00CC6AD15}"/>
                </c:ext>
              </c:extLst>
            </c:dLbl>
            <c:numFmt formatCode="#,##0,\ 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'Pivot Tables'!$G$15:$G$22</c:f>
              <c:strCache>
                <c:ptCount val="7"/>
                <c:pt idx="0">
                  <c:v>Anniversary</c:v>
                </c:pt>
                <c:pt idx="1">
                  <c:v>Raksha Bandhan</c:v>
                </c:pt>
                <c:pt idx="2">
                  <c:v>All Occasions</c:v>
                </c:pt>
                <c:pt idx="3">
                  <c:v>Holi</c:v>
                </c:pt>
                <c:pt idx="4">
                  <c:v>Birthday</c:v>
                </c:pt>
                <c:pt idx="5">
                  <c:v>Valentine's Day</c:v>
                </c:pt>
                <c:pt idx="6">
                  <c:v>Diwali</c:v>
                </c:pt>
              </c:strCache>
            </c:strRef>
          </c:cat>
          <c:val>
            <c:numRef>
              <c:f>'Pivot Tables'!$H$15:$H$22</c:f>
              <c:numCache>
                <c:formatCode>"₹"#,##0;#,##0\ \-"₹";"₹"#,##0</c:formatCode>
                <c:ptCount val="7"/>
                <c:pt idx="0">
                  <c:v>674634</c:v>
                </c:pt>
                <c:pt idx="1">
                  <c:v>631585</c:v>
                </c:pt>
                <c:pt idx="2">
                  <c:v>586176</c:v>
                </c:pt>
                <c:pt idx="3">
                  <c:v>574682</c:v>
                </c:pt>
                <c:pt idx="4">
                  <c:v>408194</c:v>
                </c:pt>
                <c:pt idx="5">
                  <c:v>331930</c:v>
                </c:pt>
                <c:pt idx="6">
                  <c:v>313783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5BF4-4719-9861-E4C00CC6AD1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60"/>
        <c:gapDepth val="0"/>
        <c:shape val="box"/>
        <c:axId val="1945514112"/>
        <c:axId val="1945512864"/>
        <c:axId val="0"/>
      </c:bar3DChart>
      <c:catAx>
        <c:axId val="1945514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5512864"/>
        <c:crosses val="autoZero"/>
        <c:auto val="1"/>
        <c:lblAlgn val="ctr"/>
        <c:lblOffset val="100"/>
        <c:noMultiLvlLbl val="0"/>
      </c:catAx>
      <c:valAx>
        <c:axId val="1945512864"/>
        <c:scaling>
          <c:orientation val="minMax"/>
        </c:scaling>
        <c:delete val="0"/>
        <c:axPos val="l"/>
        <c:numFmt formatCode="&quot;₹&quot;#,##0;#,##0\ \-&quot;₹&quot;;&quot;₹&quot;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55141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[FNP Data Analysis Excel Project.xlsx]Pivot Tables!PivotTable2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>
                <a:solidFill>
                  <a:schemeClr val="tx1"/>
                </a:solidFill>
              </a:rPr>
              <a:t>Revenue BY </a:t>
            </a:r>
            <a:r>
              <a:rPr lang="en-US" sz="1800" dirty="0" err="1">
                <a:solidFill>
                  <a:schemeClr val="tx1"/>
                </a:solidFill>
              </a:rPr>
              <a:t>categorY</a:t>
            </a:r>
            <a:endParaRPr lang="en-US" sz="1800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70523009623797028"/>
          <c:y val="1.4787156002254987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</c:pivotFmt>
      <c:pivotFmt>
        <c:idx val="1"/>
      </c:pivotFmt>
      <c:pivotFmt>
        <c:idx val="2"/>
      </c:pivotFmt>
      <c:pivotFmt>
        <c:idx val="3"/>
      </c:pivotFmt>
      <c:pivotFmt>
        <c:idx val="4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marker>
          <c:symbol val="none"/>
        </c:marker>
      </c:pivotFmt>
      <c:pivotFmt>
        <c:idx val="5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marker>
          <c:symbol val="none"/>
        </c:marker>
        <c:dLbl>
          <c:idx val="0"/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0"/>
              <c:y val="-6.2762621824166151E-3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-6.5682937506698504E-17"/>
              <c:y val="-2.8183954440010794E-3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0"/>
              <c:y val="6.9157334768310715E-3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-3.5827470699053197E-3"/>
              <c:y val="-8.022088014207578E-3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0"/>
              <c:y val="1.1409535571251257E-3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0"/>
              <c:y val="5.1695005977489472E-3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marker>
          <c:symbol val="none"/>
        </c:marker>
        <c:dLbl>
          <c:idx val="0"/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0"/>
              <c:y val="-6.2762621824166151E-3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0"/>
              <c:y val="5.1695005977489472E-3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-6.5682937506698504E-17"/>
              <c:y val="-2.8183954440010794E-3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0"/>
              <c:y val="6.9157334768310715E-3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-3.5827470699053197E-3"/>
              <c:y val="-8.022088014207578E-3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0"/>
              <c:y val="1.1409535571251257E-3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marker>
          <c:symbol val="none"/>
        </c:marker>
        <c:dLbl>
          <c:idx val="0"/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0"/>
              <c:y val="-6.2762621824166151E-3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0"/>
              <c:y val="5.1695005977489472E-3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-6.5682937506698504E-17"/>
              <c:y val="-2.8183954440010794E-3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0"/>
              <c:y val="6.9157334768310715E-3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-3.5827470699053197E-3"/>
              <c:y val="-8.022088014207578E-3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0"/>
              <c:y val="1.1409535571251257E-3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0"/>
      <c:rotY val="0"/>
      <c:depthPercent val="100"/>
      <c:rAngAx val="0"/>
    </c:view3D>
    <c:floor>
      <c:thickness val="0"/>
      <c:spPr>
        <a:solidFill>
          <a:schemeClr val="lt1"/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7.0899715660542428E-2"/>
          <c:y val="0.11405225080349519"/>
          <c:w val="0.92910028433945735"/>
          <c:h val="0.83102118415186732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'Pivot Tables'!$B$6</c:f>
              <c:strCache>
                <c:ptCount val="1"/>
                <c:pt idx="0">
                  <c:v>Total</c:v>
                </c:pt>
              </c:strCache>
            </c:strRef>
          </c:tx>
          <c:spPr>
            <a:pattFill prst="dkUpDiag">
              <a:fgClr>
                <a:srgbClr val="0070C0"/>
              </a:fgClr>
              <a:bgClr>
                <a:schemeClr val="bg1"/>
              </a:bgClr>
            </a:pattFill>
            <a:ln>
              <a:solidFill>
                <a:schemeClr val="accent1"/>
              </a:solidFill>
            </a:ln>
            <a:effectLst/>
            <a:sp3d>
              <a:contourClr>
                <a:schemeClr val="accent1"/>
              </a:contourClr>
            </a:sp3d>
          </c:spPr>
          <c:invertIfNegative val="0"/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0248-4F62-897B-E913CCC8ED6C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248-4F62-897B-E913CCC8ED6C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0248-4F62-897B-E913CCC8ED6C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248-4F62-897B-E913CCC8ED6C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0248-4F62-897B-E913CCC8ED6C}"/>
              </c:ext>
            </c:extLst>
          </c:dPt>
          <c:dLbls>
            <c:dLbl>
              <c:idx val="1"/>
              <c:layout>
                <c:manualLayout>
                  <c:x val="0"/>
                  <c:y val="-6.276262182416615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0-0248-4F62-897B-E913CCC8ED6C}"/>
                </c:ext>
              </c:extLst>
            </c:dLbl>
            <c:dLbl>
              <c:idx val="2"/>
              <c:layout>
                <c:manualLayout>
                  <c:x val="0"/>
                  <c:y val="5.169500597748947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0248-4F62-897B-E913CCC8ED6C}"/>
                </c:ext>
              </c:extLst>
            </c:dLbl>
            <c:dLbl>
              <c:idx val="3"/>
              <c:layout>
                <c:manualLayout>
                  <c:x val="-6.5682937506698504E-17"/>
                  <c:y val="-2.818395444001079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0248-4F62-897B-E913CCC8ED6C}"/>
                </c:ext>
              </c:extLst>
            </c:dLbl>
            <c:dLbl>
              <c:idx val="4"/>
              <c:layout>
                <c:manualLayout>
                  <c:x val="-1.3888888888888889E-3"/>
                  <c:y val="-5.066883044894551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0248-4F62-897B-E913CCC8ED6C}"/>
                </c:ext>
              </c:extLst>
            </c:dLbl>
            <c:dLbl>
              <c:idx val="5"/>
              <c:layout>
                <c:manualLayout>
                  <c:x val="-3.5827470699053197E-3"/>
                  <c:y val="-8.02208801420757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0248-4F62-897B-E913CCC8ED6C}"/>
                </c:ext>
              </c:extLst>
            </c:dLbl>
            <c:dLbl>
              <c:idx val="6"/>
              <c:layout>
                <c:manualLayout>
                  <c:x val="-4.1666666666667681E-3"/>
                  <c:y val="-1.0841634253176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0248-4F62-897B-E913CCC8ED6C}"/>
                </c:ext>
              </c:extLst>
            </c:dLbl>
            <c:numFmt formatCode="#,##0,\ 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'Pivot Tables'!$A$7:$A$14</c:f>
              <c:strCache>
                <c:ptCount val="7"/>
                <c:pt idx="0">
                  <c:v>Colors</c:v>
                </c:pt>
                <c:pt idx="1">
                  <c:v>Soft Toys</c:v>
                </c:pt>
                <c:pt idx="2">
                  <c:v>Sweets</c:v>
                </c:pt>
                <c:pt idx="3">
                  <c:v>Cake</c:v>
                </c:pt>
                <c:pt idx="4">
                  <c:v>Raksha Bandhan</c:v>
                </c:pt>
                <c:pt idx="5">
                  <c:v>Plants</c:v>
                </c:pt>
                <c:pt idx="6">
                  <c:v>Mugs</c:v>
                </c:pt>
              </c:strCache>
            </c:strRef>
          </c:cat>
          <c:val>
            <c:numRef>
              <c:f>'Pivot Tables'!$B$7:$B$14</c:f>
              <c:numCache>
                <c:formatCode>"₹"#,##0;#,##0\ \-"₹";"₹"#,##0</c:formatCode>
                <c:ptCount val="7"/>
                <c:pt idx="0">
                  <c:v>1005645</c:v>
                </c:pt>
                <c:pt idx="1">
                  <c:v>740831</c:v>
                </c:pt>
                <c:pt idx="2">
                  <c:v>733842</c:v>
                </c:pt>
                <c:pt idx="3">
                  <c:v>329862</c:v>
                </c:pt>
                <c:pt idx="4">
                  <c:v>297372</c:v>
                </c:pt>
                <c:pt idx="5">
                  <c:v>212281</c:v>
                </c:pt>
                <c:pt idx="6">
                  <c:v>201151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248-4F62-897B-E913CCC8ED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60"/>
        <c:gapDepth val="0"/>
        <c:shape val="box"/>
        <c:axId val="23736224"/>
        <c:axId val="23737472"/>
        <c:axId val="0"/>
      </c:bar3DChart>
      <c:catAx>
        <c:axId val="23736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737472"/>
        <c:crosses val="autoZero"/>
        <c:auto val="1"/>
        <c:lblAlgn val="ctr"/>
        <c:lblOffset val="100"/>
        <c:noMultiLvlLbl val="0"/>
      </c:catAx>
      <c:valAx>
        <c:axId val="23737472"/>
        <c:scaling>
          <c:orientation val="minMax"/>
        </c:scaling>
        <c:delete val="0"/>
        <c:axPos val="l"/>
        <c:numFmt formatCode="&quot;₹&quot;#,##0;#,##0\ \-&quot;₹&quot;;&quot;₹&quot;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736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[FNP Data Analysis Excel Project.xlsx]Pivot Tables!PivotTable10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dirty="0">
                <a:solidFill>
                  <a:schemeClr val="tx1"/>
                </a:solidFill>
              </a:rPr>
              <a:t>REVENUE BY CITY</a:t>
            </a:r>
          </a:p>
        </c:rich>
      </c:tx>
      <c:layout>
        <c:manualLayout>
          <c:xMode val="edge"/>
          <c:yMode val="edge"/>
          <c:x val="0.77873611111111118"/>
          <c:y val="1.8139951358964259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</c:pivotFmt>
      <c:pivotFmt>
        <c:idx val="1"/>
      </c:pivotFmt>
      <c:pivotFmt>
        <c:idx val="2"/>
      </c:pivotFmt>
      <c:pivotFmt>
        <c:idx val="3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layout>
            <c:manualLayout>
              <c:x val="3.9396275345841905E-3"/>
              <c:y val="-0.28317672191514565"/>
            </c:manualLayout>
          </c:layout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layout>
            <c:manualLayout>
              <c:x val="0"/>
              <c:y val="-0.29522679518813061"/>
            </c:manualLayout>
          </c:layout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dLbl>
          <c:idx val="0"/>
          <c:layout>
            <c:manualLayout>
              <c:x val="7.8792550691683099E-3"/>
              <c:y val="-0.27715168527865319"/>
            </c:manualLayout>
          </c:layout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dLbl>
          <c:idx val="0"/>
          <c:layout>
            <c:manualLayout>
              <c:x val="0"/>
              <c:y val="-0.25305153873268338"/>
            </c:manualLayout>
          </c:layout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dLbl>
          <c:idx val="0"/>
          <c:layout>
            <c:manualLayout>
              <c:x val="0"/>
              <c:y val="-0.22895139218671351"/>
            </c:manualLayout>
          </c:layout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dLbl>
          <c:idx val="0"/>
          <c:layout>
            <c:manualLayout>
              <c:x val="0"/>
              <c:y val="-0.22292635555022106"/>
            </c:manualLayout>
          </c:layout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dLbl>
          <c:idx val="0"/>
          <c:layout>
            <c:manualLayout>
              <c:x val="0"/>
              <c:y val="-0.21690131891372857"/>
            </c:manualLayout>
          </c:layout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dLbl>
          <c:idx val="0"/>
          <c:layout>
            <c:manualLayout>
              <c:x val="-3.9396275345843354E-3"/>
              <c:y val="-0.20485124564074367"/>
            </c:manualLayout>
          </c:layout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dLbl>
          <c:idx val="0"/>
          <c:layout>
            <c:manualLayout>
              <c:x val="0"/>
              <c:y val="-0.20485124564074367"/>
            </c:manualLayout>
          </c:layout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dLbl>
          <c:idx val="0"/>
          <c:layout>
            <c:manualLayout>
              <c:x val="3.9396275345841905E-3"/>
              <c:y val="-0.19882620900425121"/>
            </c:manualLayout>
          </c:layout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1.5277605299494147E-17"/>
              <c:y val="-0.34241245136186771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0"/>
              <c:y val="-0.33203631647211418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6.6666684164484033E-3"/>
              <c:y val="-0.32166018158236059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0"/>
              <c:y val="-0.29053177691309989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3.3333342082242016E-3"/>
              <c:y val="-0.2697795071335927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-3.3333342082241405E-3"/>
              <c:y val="-0.2645914396887159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0"/>
              <c:y val="-0.2438391699092088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3.3333342082242016E-3"/>
              <c:y val="-0.23346303501945531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6.6666684164484033E-3"/>
              <c:y val="-0.223086900129701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6.6666684164485256E-3"/>
              <c:y val="-0.2178988326848249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1.5277605299494147E-17"/>
              <c:y val="-0.34241245136186771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0"/>
              <c:y val="-0.33203631647211418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6.6666684164484033E-3"/>
              <c:y val="-0.32166018158236059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0"/>
              <c:y val="-0.29053177691309989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3.3333342082242016E-3"/>
              <c:y val="-0.2697795071335927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-3.3333342082241405E-3"/>
              <c:y val="-0.2645914396887159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0"/>
              <c:y val="-0.2438391699092088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3.3333342082242016E-3"/>
              <c:y val="-0.23346303501945531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6.6666684164484033E-3"/>
              <c:y val="-0.223086900129701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6.6666684164485256E-3"/>
              <c:y val="-0.2178988326848249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dLbl>
          <c:idx val="0"/>
          <c:layout>
            <c:manualLayout>
              <c:x val="1.5277605299494147E-17"/>
              <c:y val="-0.34241245136186771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dLbl>
          <c:idx val="0"/>
          <c:layout>
            <c:manualLayout>
              <c:x val="0"/>
              <c:y val="-0.33203631647211418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dLbl>
          <c:idx val="0"/>
          <c:layout>
            <c:manualLayout>
              <c:x val="6.6666684164484033E-3"/>
              <c:y val="-0.32166018158236059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dLbl>
          <c:idx val="0"/>
          <c:layout>
            <c:manualLayout>
              <c:x val="0"/>
              <c:y val="-0.29053177691309989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dLbl>
          <c:idx val="0"/>
          <c:layout>
            <c:manualLayout>
              <c:x val="3.3333342082242016E-3"/>
              <c:y val="-0.2697795071335927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dLbl>
          <c:idx val="0"/>
          <c:layout>
            <c:manualLayout>
              <c:x val="-3.3333342082241405E-3"/>
              <c:y val="-0.2645914396887159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dLbl>
          <c:idx val="0"/>
          <c:layout>
            <c:manualLayout>
              <c:x val="0"/>
              <c:y val="-0.2438391699092088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dLbl>
          <c:idx val="0"/>
          <c:layout>
            <c:manualLayout>
              <c:x val="3.3333342082242016E-3"/>
              <c:y val="-0.23346303501945531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dLbl>
          <c:idx val="0"/>
          <c:layout>
            <c:manualLayout>
              <c:x val="6.6666684164484033E-3"/>
              <c:y val="-0.223086900129701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dLbl>
          <c:idx val="0"/>
          <c:layout>
            <c:manualLayout>
              <c:x val="6.6666684164485256E-3"/>
              <c:y val="-0.2178988326848249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marker>
          <c:symbol val="none"/>
        </c:marker>
        <c:dLbl>
          <c:idx val="0"/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 algn="ctr"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0"/>
              <c:y val="-0.224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 algn="ctr"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0"/>
              <c:y val="-0.32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 algn="ctr"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0"/>
              <c:y val="-0.28799999999999998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 algn="ctr"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-3.3211991882675369E-3"/>
              <c:y val="-0.24533333333333332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 algn="ctr"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-3.3211991882675981E-3"/>
              <c:y val="-0.224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 algn="ctr"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6.6423983765350738E-3"/>
              <c:y val="-0.21333333333333335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 algn="ctr"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-1.2177589680425826E-16"/>
              <c:y val="-0.20266666666666666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 algn="ctr"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9.9635975648024889E-3"/>
              <c:y val="-0.192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 algn="ctr"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6.6423983765350738E-3"/>
              <c:y val="-0.17066666666666672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 algn="ctr"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6.6423983765350738E-3"/>
              <c:y val="-0.16533333333333328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 algn="ctr"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8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marker>
          <c:symbol val="none"/>
        </c:marker>
        <c:dLbl>
          <c:idx val="0"/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 algn="ctr"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9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0"/>
              <c:y val="-0.32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 algn="ctr"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0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0"/>
              <c:y val="-0.28799999999999998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 algn="ctr"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1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-3.3211991882675369E-3"/>
              <c:y val="-0.24533333333333332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 algn="ctr"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-3.3211991882675981E-3"/>
              <c:y val="-0.224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 algn="ctr"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3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0"/>
              <c:y val="-0.224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 algn="ctr"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4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6.6423983765350738E-3"/>
              <c:y val="-0.21333333333333335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 algn="ctr"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5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-1.2177589680425826E-16"/>
              <c:y val="-0.20266666666666666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 algn="ctr"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6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9.9635975648024889E-3"/>
              <c:y val="-0.192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 algn="ctr"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7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6.6423983765350738E-3"/>
              <c:y val="-0.17066666666666672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 algn="ctr"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8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6.6423983765350738E-3"/>
              <c:y val="-0.16533333333333328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 algn="ctr"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9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marker>
          <c:symbol val="none"/>
        </c:marker>
        <c:dLbl>
          <c:idx val="0"/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 algn="ctr"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0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0"/>
              <c:y val="-0.32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 algn="ctr"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1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0"/>
              <c:y val="-0.28799999999999998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 algn="ctr"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2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-3.3211991882675369E-3"/>
              <c:y val="-0.24533333333333332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 algn="ctr"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3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-3.3211991882675981E-3"/>
              <c:y val="-0.224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 algn="ctr"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4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0"/>
              <c:y val="-0.224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 algn="ctr"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5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6.6423983765350738E-3"/>
              <c:y val="-0.21333333333333335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 algn="ctr"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6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-1.2177589680425826E-16"/>
              <c:y val="-0.20266666666666666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 algn="ctr"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7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9.9635975648024889E-3"/>
              <c:y val="-0.192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 algn="ctr"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8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6.6423983765350738E-3"/>
              <c:y val="-0.17066666666666672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 algn="ctr"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9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dLbl>
          <c:idx val="0"/>
          <c:layout>
            <c:manualLayout>
              <c:x val="6.6423983765350738E-3"/>
              <c:y val="-0.16533333333333328"/>
            </c:manualLayout>
          </c:layout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 algn="ctr"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 w="19050" cap="flat" cmpd="sng" algn="ctr">
          <a:solidFill>
            <a:schemeClr val="tx1">
              <a:lumMod val="25000"/>
              <a:lumOff val="75000"/>
            </a:schemeClr>
          </a:solidFill>
          <a:round/>
        </a:ln>
        <a:effectLst/>
        <a:sp3d contourW="19050">
          <a:contourClr>
            <a:schemeClr val="tx1">
              <a:lumMod val="25000"/>
              <a:lumOff val="75000"/>
            </a:schemeClr>
          </a:contourClr>
        </a:sp3d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7.4731322055244742E-2"/>
          <c:y val="4.8918309990012308E-2"/>
          <c:w val="0.89291196412948393"/>
          <c:h val="0.66785685508353287"/>
        </c:manualLayout>
      </c:layout>
      <c:bar3DChart>
        <c:barDir val="col"/>
        <c:grouping val="stacked"/>
        <c:varyColors val="0"/>
        <c:ser>
          <c:idx val="0"/>
          <c:order val="0"/>
          <c:tx>
            <c:strRef>
              <c:f>'Pivot Tables'!$H$1</c:f>
              <c:strCache>
                <c:ptCount val="1"/>
                <c:pt idx="0">
                  <c:v>Total</c:v>
                </c:pt>
              </c:strCache>
            </c:strRef>
          </c:tx>
          <c:spPr>
            <a:pattFill prst="dkUpDiag">
              <a:fgClr>
                <a:srgbClr val="0070C0"/>
              </a:fgClr>
              <a:bgClr>
                <a:schemeClr val="bg1"/>
              </a:bgClr>
            </a:pattFill>
            <a:ln>
              <a:solidFill>
                <a:schemeClr val="accent1"/>
              </a:solidFill>
            </a:ln>
            <a:effectLst/>
            <a:sp3d>
              <a:contourClr>
                <a:schemeClr val="accent1"/>
              </a:contourClr>
            </a:sp3d>
          </c:spPr>
          <c:invertIfNegative val="0"/>
          <c:dLbls>
            <c:dLbl>
              <c:idx val="0"/>
              <c:layout>
                <c:manualLayout>
                  <c:x val="0"/>
                  <c:y val="-0.3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0-714A-4139-8651-1526CC6FFC18}"/>
                </c:ext>
              </c:extLst>
            </c:dLbl>
            <c:dLbl>
              <c:idx val="1"/>
              <c:layout>
                <c:manualLayout>
                  <c:x val="0"/>
                  <c:y val="-0.2879999999999999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714A-4139-8651-1526CC6FFC18}"/>
                </c:ext>
              </c:extLst>
            </c:dLbl>
            <c:dLbl>
              <c:idx val="2"/>
              <c:layout>
                <c:manualLayout>
                  <c:x val="2.2343613298337708E-3"/>
                  <c:y val="-0.2539811087568618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714A-4139-8651-1526CC6FFC18}"/>
                </c:ext>
              </c:extLst>
            </c:dLbl>
            <c:dLbl>
              <c:idx val="3"/>
              <c:layout>
                <c:manualLayout>
                  <c:x val="-3.3211991882675981E-3"/>
                  <c:y val="-0.22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714A-4139-8651-1526CC6FFC18}"/>
                </c:ext>
              </c:extLst>
            </c:dLbl>
            <c:dLbl>
              <c:idx val="4"/>
              <c:layout>
                <c:manualLayout>
                  <c:x val="0"/>
                  <c:y val="-0.22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714A-4139-8651-1526CC6FFC18}"/>
                </c:ext>
              </c:extLst>
            </c:dLbl>
            <c:dLbl>
              <c:idx val="5"/>
              <c:layout>
                <c:manualLayout>
                  <c:x val="6.6423983765350738E-3"/>
                  <c:y val="-0.2133333333333333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714A-4139-8651-1526CC6FFC18}"/>
                </c:ext>
              </c:extLst>
            </c:dLbl>
            <c:dLbl>
              <c:idx val="6"/>
              <c:layout>
                <c:manualLayout>
                  <c:x val="-1.2177589680425826E-16"/>
                  <c:y val="-0.2026666666666666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6-714A-4139-8651-1526CC6FFC18}"/>
                </c:ext>
              </c:extLst>
            </c:dLbl>
            <c:dLbl>
              <c:idx val="7"/>
              <c:layout>
                <c:manualLayout>
                  <c:x val="9.9635975648024889E-3"/>
                  <c:y val="-0.19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714A-4139-8651-1526CC6FFC18}"/>
                </c:ext>
              </c:extLst>
            </c:dLbl>
            <c:dLbl>
              <c:idx val="8"/>
              <c:layout>
                <c:manualLayout>
                  <c:x val="6.6423983765350738E-3"/>
                  <c:y val="-0.1706666666666667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8-714A-4139-8651-1526CC6FFC18}"/>
                </c:ext>
              </c:extLst>
            </c:dLbl>
            <c:dLbl>
              <c:idx val="9"/>
              <c:layout>
                <c:manualLayout>
                  <c:x val="6.6423983765350738E-3"/>
                  <c:y val="-0.1653333333333332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9-714A-4139-8651-1526CC6FFC18}"/>
                </c:ext>
              </c:extLst>
            </c:dLbl>
            <c:numFmt formatCode="#,##0,\ 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t" anchorCtr="0">
                <a:spAutoFit/>
              </a:bodyPr>
              <a:lstStyle/>
              <a:p>
                <a:pPr algn="ctr"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'Pivot Tables'!$G$2:$G$12</c:f>
              <c:strCache>
                <c:ptCount val="10"/>
                <c:pt idx="0">
                  <c:v>Imphal</c:v>
                </c:pt>
                <c:pt idx="1">
                  <c:v>Kavali</c:v>
                </c:pt>
                <c:pt idx="2">
                  <c:v>Dhanbad</c:v>
                </c:pt>
                <c:pt idx="3">
                  <c:v>North Dumdum</c:v>
                </c:pt>
                <c:pt idx="4">
                  <c:v>Haridwar</c:v>
                </c:pt>
                <c:pt idx="5">
                  <c:v>Dibrugarh</c:v>
                </c:pt>
                <c:pt idx="6">
                  <c:v>Bhatpara</c:v>
                </c:pt>
                <c:pt idx="7">
                  <c:v>Bidhannagar</c:v>
                </c:pt>
                <c:pt idx="8">
                  <c:v>Guntakal</c:v>
                </c:pt>
                <c:pt idx="9">
                  <c:v>Bilaspur</c:v>
                </c:pt>
              </c:strCache>
            </c:strRef>
          </c:cat>
          <c:val>
            <c:numRef>
              <c:f>'Pivot Tables'!$H$2:$H$12</c:f>
              <c:numCache>
                <c:formatCode>"₹"#,##0;#,##0\ \-"₹";"₹"#,##0</c:formatCode>
                <c:ptCount val="10"/>
                <c:pt idx="0">
                  <c:v>125854</c:v>
                </c:pt>
                <c:pt idx="1">
                  <c:v>109979</c:v>
                </c:pt>
                <c:pt idx="2">
                  <c:v>93813</c:v>
                </c:pt>
                <c:pt idx="3">
                  <c:v>81663</c:v>
                </c:pt>
                <c:pt idx="4">
                  <c:v>80733</c:v>
                </c:pt>
                <c:pt idx="5">
                  <c:v>76822</c:v>
                </c:pt>
                <c:pt idx="6">
                  <c:v>72973</c:v>
                </c:pt>
                <c:pt idx="7">
                  <c:v>69117</c:v>
                </c:pt>
                <c:pt idx="8">
                  <c:v>60143</c:v>
                </c:pt>
                <c:pt idx="9">
                  <c:v>58462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14A-4139-8651-1526CC6FFC1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61442352"/>
        <c:axId val="61445264"/>
        <c:axId val="0"/>
      </c:bar3DChart>
      <c:catAx>
        <c:axId val="61442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445264"/>
        <c:crosses val="autoZero"/>
        <c:auto val="1"/>
        <c:lblAlgn val="ctr"/>
        <c:lblOffset val="100"/>
        <c:noMultiLvlLbl val="0"/>
      </c:catAx>
      <c:valAx>
        <c:axId val="61445264"/>
        <c:scaling>
          <c:orientation val="minMax"/>
        </c:scaling>
        <c:delete val="0"/>
        <c:axPos val="l"/>
        <c:numFmt formatCode="&quot;₹&quot;#,##0;#,##0\ \-&quot;₹&quot;;&quot;₹&quot;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4423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[FNP Data Analysis Excel Project.xlsx]Pivot Tables!PivotTable4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600">
                <a:solidFill>
                  <a:schemeClr val="tx1"/>
                </a:solidFill>
              </a:rPr>
              <a:t>Revenue</a:t>
            </a:r>
            <a:r>
              <a:rPr lang="en-US" sz="1600" baseline="0">
                <a:solidFill>
                  <a:schemeClr val="tx1"/>
                </a:solidFill>
              </a:rPr>
              <a:t> by customers</a:t>
            </a:r>
            <a:endParaRPr lang="en-US" sz="160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72400273403324567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5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</c:pivotFmt>
      <c:pivotFmt>
        <c:idx val="1"/>
      </c:pivotFmt>
      <c:pivotFmt>
        <c:idx val="2"/>
      </c:pivotFmt>
      <c:pivotFmt>
        <c:idx val="3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marker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marker>
          <c:symbol val="none"/>
        </c:marker>
      </c:pivotFmt>
      <c:pivotFmt>
        <c:idx val="5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marker>
          <c:symbol val="none"/>
        </c:marker>
      </c:pivotFmt>
      <c:pivotFmt>
        <c:idx val="6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marker>
          <c:symbol val="none"/>
        </c:marker>
      </c:pivotFmt>
      <c:pivotFmt>
        <c:idx val="7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marker>
          <c:symbol val="none"/>
        </c:marker>
      </c:pivotFmt>
      <c:pivotFmt>
        <c:idx val="8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marker>
          <c:symbol val="none"/>
        </c:marker>
        <c:dLbl>
          <c:idx val="0"/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marker>
          <c:symbol val="none"/>
        </c:marker>
        <c:dLbl>
          <c:idx val="0"/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marker>
          <c:symbol val="none"/>
        </c:marker>
        <c:dLbl>
          <c:idx val="0"/>
          <c:numFmt formatCode="#,##0,\ 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0"/>
      <c:rotY val="0"/>
      <c:depthPercent val="100"/>
      <c:rAngAx val="0"/>
    </c:view3D>
    <c:floor>
      <c:thickness val="0"/>
      <c:spPr>
        <a:solidFill>
          <a:schemeClr val="lt1"/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9.6510717410323701E-2"/>
          <c:y val="6.7901431349421407E-2"/>
          <c:w val="0.90348928258967631"/>
          <c:h val="0.67050270967853975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'Pivot Tables'!$K$1</c:f>
              <c:strCache>
                <c:ptCount val="1"/>
                <c:pt idx="0">
                  <c:v>Total</c:v>
                </c:pt>
              </c:strCache>
            </c:strRef>
          </c:tx>
          <c:spPr>
            <a:pattFill prst="dkUpDiag">
              <a:fgClr>
                <a:srgbClr val="0070C0"/>
              </a:fgClr>
              <a:bgClr>
                <a:schemeClr val="bg1"/>
              </a:bgClr>
            </a:pattFill>
            <a:ln>
              <a:solidFill>
                <a:schemeClr val="accent1"/>
              </a:solidFill>
            </a:ln>
            <a:effectLst/>
            <a:sp3d>
              <a:contourClr>
                <a:schemeClr val="accent1"/>
              </a:contourClr>
            </a:sp3d>
          </c:spPr>
          <c:invertIfNegative val="0"/>
          <c:dLbls>
            <c:numFmt formatCode="#,##0,\ 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'Pivot Tables'!$J$2:$J$12</c:f>
              <c:strCache>
                <c:ptCount val="10"/>
                <c:pt idx="0">
                  <c:v>Samaira Ganesh</c:v>
                </c:pt>
                <c:pt idx="1">
                  <c:v>Seher Mann</c:v>
                </c:pt>
                <c:pt idx="2">
                  <c:v>Divit Mahajan</c:v>
                </c:pt>
                <c:pt idx="3">
                  <c:v>Jhanvi Chowdhury</c:v>
                </c:pt>
                <c:pt idx="4">
                  <c:v>Ranbir Loyal</c:v>
                </c:pt>
                <c:pt idx="5">
                  <c:v>Aradhya Batta</c:v>
                </c:pt>
                <c:pt idx="6">
                  <c:v>Akarsh Ramesh</c:v>
                </c:pt>
                <c:pt idx="7">
                  <c:v>Veer Ray</c:v>
                </c:pt>
                <c:pt idx="8">
                  <c:v>Mannat Anand</c:v>
                </c:pt>
                <c:pt idx="9">
                  <c:v>Anahita Shankar</c:v>
                </c:pt>
              </c:strCache>
            </c:strRef>
          </c:cat>
          <c:val>
            <c:numRef>
              <c:f>'Pivot Tables'!$K$2:$K$12</c:f>
              <c:numCache>
                <c:formatCode>"₹"#,##0;#,##0\ \-"₹";"₹"#,##0</c:formatCode>
                <c:ptCount val="10"/>
                <c:pt idx="0">
                  <c:v>75029</c:v>
                </c:pt>
                <c:pt idx="1">
                  <c:v>70409</c:v>
                </c:pt>
                <c:pt idx="2">
                  <c:v>61294</c:v>
                </c:pt>
                <c:pt idx="3">
                  <c:v>59666</c:v>
                </c:pt>
                <c:pt idx="4">
                  <c:v>53082</c:v>
                </c:pt>
                <c:pt idx="5">
                  <c:v>50856</c:v>
                </c:pt>
                <c:pt idx="6">
                  <c:v>50313</c:v>
                </c:pt>
                <c:pt idx="7">
                  <c:v>50151</c:v>
                </c:pt>
                <c:pt idx="8">
                  <c:v>49494</c:v>
                </c:pt>
                <c:pt idx="9">
                  <c:v>49100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C3-48CE-9EA5-FA8184725AD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60"/>
        <c:gapDepth val="0"/>
        <c:shape val="box"/>
        <c:axId val="1321222288"/>
        <c:axId val="1321229360"/>
        <c:axId val="0"/>
      </c:bar3DChart>
      <c:catAx>
        <c:axId val="13212222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21229360"/>
        <c:crosses val="autoZero"/>
        <c:auto val="1"/>
        <c:lblAlgn val="ctr"/>
        <c:lblOffset val="100"/>
        <c:noMultiLvlLbl val="0"/>
      </c:catAx>
      <c:valAx>
        <c:axId val="1321229360"/>
        <c:scaling>
          <c:orientation val="minMax"/>
        </c:scaling>
        <c:delete val="0"/>
        <c:axPos val="l"/>
        <c:numFmt formatCode="&quot;₹&quot;#,##0;#,##0\ \-&quot;₹&quot;;&quot;₹&quot;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212222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8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/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tx1"/>
    </cs:fontRef>
    <cs:spPr>
      <a:pattFill prst="ltDn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>
        <a:solidFill>
          <a:schemeClr val="phClr"/>
        </a:solidFill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solidFill>
        <a:schemeClr val="lt1"/>
      </a:solidFill>
      <a:sp3d/>
    </cs:spPr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8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/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tx1"/>
    </cs:fontRef>
    <cs:spPr>
      <a:pattFill prst="ltDn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>
        <a:solidFill>
          <a:schemeClr val="phClr"/>
        </a:solidFill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solidFill>
        <a:schemeClr val="lt1"/>
      </a:solidFill>
      <a:sp3d/>
    </cs:spPr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9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tx1"/>
    </cs:fontRef>
    <cs:spPr>
      <a:pattFill prst="ltDn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>
        <a:solidFill>
          <a:schemeClr val="phClr"/>
        </a:solidFill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8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/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tx1"/>
    </cs:fontRef>
    <cs:spPr>
      <a:pattFill prst="ltDn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>
        <a:solidFill>
          <a:schemeClr val="phClr"/>
        </a:solidFill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solidFill>
        <a:schemeClr val="lt1"/>
      </a:solidFill>
      <a:sp3d/>
    </cs:spPr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image" Target="../media/image2.png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smtClean="0"/>
              <a:t>FNP Sales </a:t>
            </a:r>
            <a:r>
              <a:rPr dirty="0" smtClean="0"/>
              <a:t>Performanc</a:t>
            </a:r>
            <a:r>
              <a:rPr lang="en-US" dirty="0" smtClean="0"/>
              <a:t>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35731"/>
            <a:ext cx="8229600" cy="4525963"/>
          </a:xfrm>
        </p:spPr>
        <p:txBody>
          <a:bodyPr/>
          <a:lstStyle/>
          <a:p>
            <a:r>
              <a:rPr lang="en-US" dirty="0" smtClean="0"/>
              <a:t>FNP B</a:t>
            </a:r>
            <a:r>
              <a:rPr dirty="0" smtClean="0"/>
              <a:t>usiness </a:t>
            </a:r>
            <a:r>
              <a:rPr dirty="0"/>
              <a:t>insights from </a:t>
            </a:r>
            <a:r>
              <a:rPr lang="en-US" dirty="0" smtClean="0"/>
              <a:t>S</a:t>
            </a:r>
            <a:r>
              <a:rPr dirty="0" smtClean="0"/>
              <a:t>ales </a:t>
            </a:r>
            <a:r>
              <a:rPr lang="en-US" dirty="0"/>
              <a:t>D</a:t>
            </a:r>
            <a:r>
              <a:rPr dirty="0" smtClean="0"/>
              <a:t>ata</a:t>
            </a:r>
            <a:endParaRPr lang="en-US" dirty="0" smtClean="0"/>
          </a:p>
          <a:p>
            <a:r>
              <a:rPr lang="en-US" dirty="0" smtClean="0"/>
              <a:t>Presented by </a:t>
            </a:r>
            <a:r>
              <a:rPr lang="en-US" dirty="0" err="1" smtClean="0"/>
              <a:t>Mujahid</a:t>
            </a:r>
            <a:r>
              <a:rPr lang="en-US" dirty="0" smtClean="0"/>
              <a:t> Khan</a:t>
            </a:r>
            <a:endParaRPr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17" b="19294"/>
          <a:stretch/>
        </p:blipFill>
        <p:spPr>
          <a:xfrm>
            <a:off x="1025237" y="410224"/>
            <a:ext cx="1818688" cy="8718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</a:t>
            </a:r>
            <a:r>
              <a:rPr lang="en-US" dirty="0" smtClean="0"/>
              <a:t>Statements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30922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sz="3800" dirty="0" smtClean="0"/>
              <a:t>Total Revenue of Business</a:t>
            </a:r>
          </a:p>
          <a:p>
            <a:r>
              <a:rPr lang="en-US" sz="3800" dirty="0" smtClean="0"/>
              <a:t>Total Orders</a:t>
            </a:r>
            <a:endParaRPr lang="en-US" sz="3800" dirty="0" smtClean="0"/>
          </a:p>
          <a:p>
            <a:r>
              <a:rPr lang="en-US" sz="3800" dirty="0" smtClean="0"/>
              <a:t>Monthly </a:t>
            </a:r>
            <a:r>
              <a:rPr lang="en-US" sz="3800" dirty="0" smtClean="0"/>
              <a:t>Sales Performance</a:t>
            </a:r>
            <a:endParaRPr sz="3800" dirty="0"/>
          </a:p>
          <a:p>
            <a:r>
              <a:rPr lang="en-US" sz="3800" dirty="0" smtClean="0"/>
              <a:t>Top Performing Product Categories</a:t>
            </a:r>
            <a:endParaRPr lang="en-US" sz="3800" dirty="0"/>
          </a:p>
          <a:p>
            <a:r>
              <a:rPr lang="en-US" sz="3800" dirty="0" smtClean="0"/>
              <a:t>Revenue by </a:t>
            </a:r>
            <a:r>
              <a:rPr lang="en-US" sz="3800" dirty="0" smtClean="0"/>
              <a:t>Occasions</a:t>
            </a:r>
          </a:p>
          <a:p>
            <a:r>
              <a:rPr lang="en-US" sz="3800" dirty="0" smtClean="0"/>
              <a:t>Top Performing Cities</a:t>
            </a:r>
          </a:p>
          <a:p>
            <a:r>
              <a:rPr lang="en-US" sz="3800" dirty="0"/>
              <a:t>Average Customer Spending</a:t>
            </a:r>
          </a:p>
          <a:p>
            <a:endParaRPr lang="en-US" sz="3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 of Business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08020"/>
            <a:ext cx="8229600" cy="4525963"/>
          </a:xfrm>
        </p:spPr>
        <p:txBody>
          <a:bodyPr/>
          <a:lstStyle/>
          <a:p>
            <a:r>
              <a:rPr lang="en-US" dirty="0"/>
              <a:t>Total </a:t>
            </a:r>
            <a:r>
              <a:rPr lang="en-US" dirty="0" err="1" smtClean="0"/>
              <a:t>Oders</a:t>
            </a:r>
            <a:r>
              <a:rPr lang="en-US" dirty="0" smtClean="0"/>
              <a:t> - </a:t>
            </a:r>
            <a:r>
              <a:rPr lang="en-US" b="1" dirty="0" smtClean="0"/>
              <a:t>1000</a:t>
            </a:r>
            <a:endParaRPr lang="en-US" b="1" dirty="0"/>
          </a:p>
          <a:p>
            <a:r>
              <a:rPr lang="en-US" dirty="0" smtClean="0"/>
              <a:t>Total Revenue -</a:t>
            </a:r>
            <a:r>
              <a:rPr lang="en-US" b="1" dirty="0" smtClean="0"/>
              <a:t> </a:t>
            </a:r>
            <a:fld id="{B615B999-56F1-41AE-B715-E0BE823A2D69}" type="TxLink">
              <a:rPr lang="en-US" b="1" smtClean="0">
                <a:solidFill>
                  <a:srgbClr val="000000"/>
                </a:solidFill>
                <a:cs typeface="Calibri"/>
              </a:rPr>
              <a:pPr/>
              <a:t>₹3,520,984</a:t>
            </a:fld>
            <a:endParaRPr lang="en-US" b="1" dirty="0" smtClean="0"/>
          </a:p>
          <a:p>
            <a:r>
              <a:rPr lang="en-US" dirty="0" smtClean="0"/>
              <a:t>Average </a:t>
            </a:r>
            <a:r>
              <a:rPr lang="en-US" dirty="0"/>
              <a:t>Customer </a:t>
            </a:r>
            <a:r>
              <a:rPr lang="en-US" dirty="0" smtClean="0"/>
              <a:t>Spending - </a:t>
            </a:r>
            <a:fld id="{2AEE6020-9765-4828-8260-880266C77A01}" type="TxLink">
              <a:rPr lang="en-US" b="1" smtClean="0">
                <a:solidFill>
                  <a:srgbClr val="000000"/>
                </a:solidFill>
                <a:cs typeface="Calibri"/>
              </a:rPr>
              <a:pPr/>
              <a:t>₹3,521</a:t>
            </a:fld>
            <a:endParaRPr lang="en-US" b="1" dirty="0">
              <a:solidFill>
                <a:srgbClr val="000000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71117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Sales by Month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36965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lang="en-US" dirty="0" smtClean="0"/>
              <a:t>We have seen a huge </a:t>
            </a:r>
            <a:r>
              <a:rPr lang="en-US" dirty="0" smtClean="0"/>
              <a:t>D</a:t>
            </a:r>
            <a:r>
              <a:rPr dirty="0" smtClean="0"/>
              <a:t>eman</a:t>
            </a:r>
            <a:r>
              <a:rPr lang="en-US" dirty="0" smtClean="0"/>
              <a:t>d in February, August, and November </a:t>
            </a:r>
          </a:p>
          <a:p>
            <a:pPr marL="0" indent="0">
              <a:buNone/>
            </a:pPr>
            <a:endParaRPr dirty="0"/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5673801"/>
              </p:ext>
            </p:extLst>
          </p:nvPr>
        </p:nvGraphicFramePr>
        <p:xfrm>
          <a:off x="0" y="2660074"/>
          <a:ext cx="9144000" cy="41979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Occasion wise </a:t>
            </a:r>
            <a:r>
              <a:rPr dirty="0" smtClean="0"/>
              <a:t>Sales </a:t>
            </a:r>
            <a:r>
              <a:rPr dirty="0"/>
              <a:t>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Strong</a:t>
            </a:r>
            <a:r>
              <a:rPr lang="en-US" dirty="0" smtClean="0"/>
              <a:t> </a:t>
            </a:r>
            <a:r>
              <a:rPr dirty="0" smtClean="0"/>
              <a:t>trend</a:t>
            </a:r>
            <a:r>
              <a:rPr lang="en-US" dirty="0" smtClean="0"/>
              <a:t> on Anniversary and </a:t>
            </a:r>
            <a:r>
              <a:rPr lang="en-US" dirty="0" err="1" smtClean="0"/>
              <a:t>Raksha</a:t>
            </a:r>
            <a:r>
              <a:rPr lang="en-US" dirty="0"/>
              <a:t> </a:t>
            </a:r>
            <a:r>
              <a:rPr lang="en-US" dirty="0" err="1" smtClean="0"/>
              <a:t>Bandhan</a:t>
            </a:r>
            <a:endParaRPr lang="en-US" dirty="0" smtClean="0"/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1204694"/>
              </p:ext>
            </p:extLst>
          </p:nvPr>
        </p:nvGraphicFramePr>
        <p:xfrm>
          <a:off x="0" y="2618509"/>
          <a:ext cx="9144000" cy="4239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Revenue by Product Category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267081"/>
              </p:ext>
            </p:extLst>
          </p:nvPr>
        </p:nvGraphicFramePr>
        <p:xfrm>
          <a:off x="0" y="2618510"/>
          <a:ext cx="9144000" cy="42394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Categories </a:t>
            </a:r>
            <a:r>
              <a:rPr lang="en-US" dirty="0" smtClean="0"/>
              <a:t>like Colors, Soft Toys and Sweets are most demanding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177980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Revenue by City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Imphal</a:t>
            </a:r>
            <a:r>
              <a:rPr lang="en-US" dirty="0" smtClean="0"/>
              <a:t>, </a:t>
            </a:r>
            <a:r>
              <a:rPr lang="en-US" dirty="0" err="1" smtClean="0"/>
              <a:t>Kavali</a:t>
            </a:r>
            <a:r>
              <a:rPr lang="en-US" dirty="0" smtClean="0"/>
              <a:t>, and </a:t>
            </a:r>
            <a:r>
              <a:rPr lang="en-US" dirty="0" err="1" smtClean="0"/>
              <a:t>Dhanbad</a:t>
            </a:r>
            <a:r>
              <a:rPr lang="en-US" dirty="0" smtClean="0"/>
              <a:t> </a:t>
            </a:r>
            <a:r>
              <a:rPr lang="en-US" dirty="0" smtClean="0"/>
              <a:t>contributed most in Revenue</a:t>
            </a:r>
            <a:endParaRPr dirty="0"/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8912947"/>
              </p:ext>
            </p:extLst>
          </p:nvPr>
        </p:nvGraphicFramePr>
        <p:xfrm>
          <a:off x="0" y="2452254"/>
          <a:ext cx="9144000" cy="44057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&amp; Product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9361"/>
            <a:ext cx="8229600" cy="4525963"/>
          </a:xfrm>
        </p:spPr>
        <p:txBody>
          <a:bodyPr/>
          <a:lstStyle/>
          <a:p>
            <a:r>
              <a:rPr lang="en-US" dirty="0"/>
              <a:t>Few customers who drives major revenue</a:t>
            </a:r>
          </a:p>
          <a:p>
            <a:r>
              <a:rPr lang="en-US" dirty="0" smtClean="0"/>
              <a:t>We can use this Data for Targeted Advertisements for these customers</a:t>
            </a:r>
            <a:endParaRPr lang="en-US"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1827708"/>
              </p:ext>
            </p:extLst>
          </p:nvPr>
        </p:nvGraphicFramePr>
        <p:xfrm>
          <a:off x="0" y="3172691"/>
          <a:ext cx="9144000" cy="36853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40860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Conclusion</a:t>
            </a:r>
            <a:r>
              <a:rPr lang="en-US" dirty="0" smtClean="0"/>
              <a:t> and Recommendations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are generating most sales in the month of February, August, and November.</a:t>
            </a:r>
          </a:p>
          <a:p>
            <a:r>
              <a:rPr lang="en-US" dirty="0" smtClean="0"/>
              <a:t>Manage </a:t>
            </a:r>
            <a:r>
              <a:rPr lang="en-US" dirty="0" smtClean="0"/>
              <a:t>inventory in peak </a:t>
            </a:r>
            <a:r>
              <a:rPr lang="en-US" dirty="0" smtClean="0"/>
              <a:t>season.</a:t>
            </a:r>
          </a:p>
          <a:p>
            <a:r>
              <a:rPr lang="en-US" dirty="0"/>
              <a:t>We can make targeted Advertisements for the repeating </a:t>
            </a:r>
            <a:r>
              <a:rPr lang="en-US" dirty="0" smtClean="0"/>
              <a:t>customers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DASHBOARD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3"/>
          <a:stretch>
            <a:fillRect/>
          </a:stretch>
        </p:blipFill>
        <p:spPr>
          <a:xfrm>
            <a:off x="0" y="1648840"/>
            <a:ext cx="9144000" cy="404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499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209</Words>
  <Application>Microsoft Office PowerPoint</Application>
  <PresentationFormat>On-screen Show (4:3)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FNP Sales Performance</vt:lpstr>
      <vt:lpstr>Problem Statements</vt:lpstr>
      <vt:lpstr>Overview of Business</vt:lpstr>
      <vt:lpstr>Sales by Month</vt:lpstr>
      <vt:lpstr>Occasion wise Sales Performance</vt:lpstr>
      <vt:lpstr>Revenue by Product Category</vt:lpstr>
      <vt:lpstr>Revenue by City</vt:lpstr>
      <vt:lpstr>Customer &amp; Product Insights</vt:lpstr>
      <vt:lpstr>Conclusion and Recommendations</vt:lpstr>
      <vt:lpstr>DASHBOARD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FNP Sales Performance – Executive Summary</dc:title>
  <dc:subject/>
  <dc:creator>USER</dc:creator>
  <cp:keywords/>
  <dc:description>generated using python-pptx</dc:description>
  <cp:lastModifiedBy>USER</cp:lastModifiedBy>
  <cp:revision>16</cp:revision>
  <dcterms:created xsi:type="dcterms:W3CDTF">2013-01-27T09:14:16Z</dcterms:created>
  <dcterms:modified xsi:type="dcterms:W3CDTF">2026-02-02T13:58:19Z</dcterms:modified>
  <cp:category/>
</cp:coreProperties>
</file>